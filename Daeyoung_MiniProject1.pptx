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F"/>
          </a:solidFill>
          <a:ln w="12700">
            <a:solidFill>
              <a:srgbClr val="F8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7A3B"/>
          </a:solidFill>
          <a:ln w="12700">
            <a:solidFill>
              <a:srgbClr val="C47A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7A3B"/>
                </a:solidFill>
              </a:rPr>
              <a:t>Mini Project 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1E1E1E"/>
                </a:solidFill>
              </a:rPr>
              <a:t>Text Analysis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713232" y="23591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25A"/>
                </a:solidFill>
              </a:rPr>
              <a:t>Comparing word frequencies across novels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880360"/>
            <a:ext cx="4572000" cy="0"/>
          </a:xfrm>
          <a:prstGeom prst="line">
            <a:avLst/>
          </a:prstGeom>
          <a:noFill/>
          <a:ln w="15875">
            <a:solidFill>
              <a:srgbClr val="D4C7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4E5B"/>
                </a:solidFill>
              </a:rPr>
              <a:t>Jane Austen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40965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</a:rPr>
              <a:t>Pride and Prejudice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</a:rPr>
              <a:t>Emma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6908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686A"/>
                </a:solidFill>
              </a:rPr>
              <a:t>Mark Twain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069080" y="40965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</a:rPr>
              <a:t>Adventures of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</a:rPr>
              <a:t>Huckleberry Finn</a:t>
            </a:r>
            <a:endParaRPr lang="en-US" sz="1600" dirty="0"/>
          </a:p>
        </p:txBody>
      </p:sp>
      <p:pic>
        <p:nvPicPr>
          <p:cNvPr id="12" name="Image 0" descr="/mnt/data/slides_assets/cell12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43344"/>
            <a:ext cx="3977640" cy="25197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</a:rPr>
              <a:t>Daeyoung Kim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F"/>
          </a:solidFill>
          <a:ln w="12700">
            <a:solidFill>
              <a:srgbClr val="F8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7A3B"/>
          </a:solidFill>
          <a:ln w="12700">
            <a:solidFill>
              <a:srgbClr val="C47A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question?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D4C7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E1E1E"/>
                </a:solidFill>
              </a:rPr>
              <a:t>Can word frequencies show differences in writing style?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12700">
            <a:solidFill>
              <a:srgbClr val="8B4E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86207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Same author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Pride and Prejudice vs. Emma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34840" y="27432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12700">
            <a:solidFill>
              <a:srgbClr val="3868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286207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Different authors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Jane Austen vs. Mark Twain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83880" y="27432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12700">
            <a:solidFill>
              <a:srgbClr val="C47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286207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</a:rPr>
              <a:t>Preferred words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</a:rPr>
              <a:t>Which words are used more by one author?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14800" y="3200400"/>
            <a:ext cx="274320" cy="0"/>
          </a:xfrm>
          <a:prstGeom prst="line">
            <a:avLst/>
          </a:prstGeom>
          <a:noFill/>
          <a:ln w="25400">
            <a:solidFill>
              <a:srgbClr val="D4C7B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63840" y="3200400"/>
            <a:ext cx="274320" cy="0"/>
          </a:xfrm>
          <a:prstGeom prst="line">
            <a:avLst/>
          </a:prstGeom>
          <a:noFill/>
          <a:ln w="25400">
            <a:solidFill>
              <a:srgbClr val="D4C7BA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" y="4800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25A"/>
                </a:solidFill>
              </a:rPr>
              <a:t>I compared books as text data. The goal was not to interpret the story, but to see whether word usage patterns can reveal differences between books and authors.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F"/>
          </a:solidFill>
          <a:ln w="12700">
            <a:solidFill>
              <a:srgbClr val="F8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7A3B"/>
          </a:solidFill>
          <a:ln w="12700">
            <a:solidFill>
              <a:srgbClr val="C47A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was the approach?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D4C7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25A"/>
                </a:solidFill>
              </a:rPr>
              <a:t>PIPELINE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1965960" cy="1170432"/>
          </a:xfrm>
          <a:prstGeom prst="roundRect">
            <a:avLst>
              <a:gd name="adj" fmla="val 3125"/>
            </a:avLst>
          </a:prstGeom>
          <a:solidFill>
            <a:srgbClr val="FFFDF9"/>
          </a:solidFill>
          <a:ln w="12700">
            <a:solidFill>
              <a:srgbClr val="D4C7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Download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" y="235915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25A"/>
                </a:solidFill>
              </a:rPr>
              <a:t>Project Gutenberg texts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06624" y="2404872"/>
            <a:ext cx="256032" cy="0"/>
          </a:xfrm>
          <a:prstGeom prst="line">
            <a:avLst/>
          </a:prstGeom>
          <a:noFill/>
          <a:ln w="20320">
            <a:solidFill>
              <a:srgbClr val="D4C7B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53512" y="1828800"/>
            <a:ext cx="1965960" cy="1170432"/>
          </a:xfrm>
          <a:prstGeom prst="roundRect">
            <a:avLst>
              <a:gd name="adj" fmla="val 3125"/>
            </a:avLst>
          </a:prstGeom>
          <a:solidFill>
            <a:srgbClr val="EFE4DA"/>
          </a:solidFill>
          <a:ln w="12700">
            <a:solidFill>
              <a:srgbClr val="D4C7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Clean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72384" y="235915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25A"/>
                </a:solidFill>
              </a:rPr>
              <a:t>remove markup, punctuation, stop words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46904" y="2404872"/>
            <a:ext cx="256032" cy="0"/>
          </a:xfrm>
          <a:prstGeom prst="line">
            <a:avLst/>
          </a:prstGeom>
          <a:noFill/>
          <a:ln w="20320">
            <a:solidFill>
              <a:srgbClr val="D4C7B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93792" y="1828800"/>
            <a:ext cx="1965960" cy="1170432"/>
          </a:xfrm>
          <a:prstGeom prst="roundRect">
            <a:avLst>
              <a:gd name="adj" fmla="val 3125"/>
            </a:avLst>
          </a:prstGeom>
          <a:solidFill>
            <a:srgbClr val="FFFDF9"/>
          </a:solidFill>
          <a:ln w="12700">
            <a:solidFill>
              <a:srgbClr val="D4C7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0952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Count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12664" y="235915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25A"/>
                </a:solidFill>
              </a:rPr>
              <a:t>word frequencies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87184" y="2404872"/>
            <a:ext cx="256032" cy="0"/>
          </a:xfrm>
          <a:prstGeom prst="line">
            <a:avLst/>
          </a:prstGeom>
          <a:noFill/>
          <a:ln w="20320">
            <a:solidFill>
              <a:srgbClr val="D4C7B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34072" y="1828800"/>
            <a:ext cx="1965960" cy="1170432"/>
          </a:xfrm>
          <a:prstGeom prst="roundRect">
            <a:avLst>
              <a:gd name="adj" fmla="val 3125"/>
            </a:avLst>
          </a:prstGeom>
          <a:solidFill>
            <a:srgbClr val="EFE4DA"/>
          </a:solidFill>
          <a:ln w="12700">
            <a:solidFill>
              <a:srgbClr val="D4C7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Normalize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52944" y="235915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25A"/>
                </a:solidFill>
              </a:rPr>
              <a:t>counts per 10,000 words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27464" y="2404872"/>
            <a:ext cx="256032" cy="0"/>
          </a:xfrm>
          <a:prstGeom prst="line">
            <a:avLst/>
          </a:prstGeom>
          <a:noFill/>
          <a:ln w="20320">
            <a:solidFill>
              <a:srgbClr val="D4C7B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74352" y="1828800"/>
            <a:ext cx="1965960" cy="1170432"/>
          </a:xfrm>
          <a:prstGeom prst="roundRect">
            <a:avLst>
              <a:gd name="adj" fmla="val 3125"/>
            </a:avLst>
          </a:prstGeom>
          <a:solidFill>
            <a:srgbClr val="FFFDF9"/>
          </a:solidFill>
          <a:ln w="12700">
            <a:solidFill>
              <a:srgbClr val="D4C7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1512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Compare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793224" y="235915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25A"/>
                </a:solidFill>
              </a:rPr>
              <a:t>same author, different authors, selected words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E1E"/>
                </a:solidFill>
              </a:rPr>
              <a:t>Why normalize?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822960" y="4663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625A"/>
                </a:solidFill>
              </a:rPr>
              <a:t>The books have different lengths, so raw counts are not fair. I used frequencies per 10,000 words so each book could be compared on the same scale.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F"/>
          </a:solidFill>
          <a:ln w="12700">
            <a:solidFill>
              <a:srgbClr val="F8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7A3B"/>
          </a:solidFill>
          <a:ln w="12700">
            <a:solidFill>
              <a:srgbClr val="C47A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results did I get? Same author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D4C7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7899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8B4E5B"/>
                </a:solidFill>
              </a:rPr>
              <a:t>Pride and Prejudice vs. Emma</a:t>
            </a:r>
            <a:endParaRPr lang="en-US" sz="2300" dirty="0"/>
          </a:p>
        </p:txBody>
      </p:sp>
      <p:pic>
        <p:nvPicPr>
          <p:cNvPr id="7" name="Image 0" descr="/mnt/data/slides_assets/cell6_ou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24110"/>
            <a:ext cx="6492240" cy="41126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1673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</a:rPr>
              <a:t>Main takeaway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60920" y="2148840"/>
            <a:ext cx="40233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700" dirty="0">
                <a:solidFill>
                  <a:srgbClr val="1E1E1E"/>
                </a:solidFill>
              </a:rPr>
              <a:t>Same author does not mean identical word use.</a:t>
            </a:r>
            <a:endParaRPr lang="en-US" sz="1700" dirty="0"/>
          </a:p>
          <a:p>
            <a:pPr marL="127000" indent="-127000">
              <a:buSzPct val="100000"/>
              <a:buChar char="•"/>
            </a:pPr>
            <a:r>
              <a:rPr lang="en-US" sz="1700" dirty="0">
                <a:solidFill>
                  <a:srgbClr val="1E1E1E"/>
                </a:solidFill>
              </a:rPr>
              <a:t>Some common words and patterns are similar.</a:t>
            </a:r>
            <a:endParaRPr lang="en-US" sz="1700" dirty="0"/>
          </a:p>
          <a:p>
            <a:pPr marL="127000" indent="-127000">
              <a:buSzPct val="100000"/>
              <a:buChar char="•"/>
            </a:pPr>
            <a:r>
              <a:rPr lang="en-US" sz="1700" dirty="0">
                <a:solidFill>
                  <a:srgbClr val="1E1E1E"/>
                </a:solidFill>
              </a:rPr>
              <a:t>Different characters and story topics still affect the counts.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360920" y="4663440"/>
            <a:ext cx="4069080" cy="777240"/>
          </a:xfrm>
          <a:prstGeom prst="roundRect">
            <a:avLst>
              <a:gd name="adj" fmla="val 7059"/>
            </a:avLst>
          </a:prstGeom>
          <a:solidFill>
            <a:srgbClr val="FFFDF9"/>
          </a:solidFill>
          <a:ln w="12700">
            <a:solidFill>
              <a:srgbClr val="8B4E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7224" y="4782312"/>
            <a:ext cx="37764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</a:rPr>
              <a:t>The same-author comparison gives a baseline before looking at Austen vs. Twain.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F"/>
          </a:solidFill>
          <a:ln w="12700">
            <a:solidFill>
              <a:srgbClr val="F8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7A3B"/>
          </a:solidFill>
          <a:ln w="12700">
            <a:solidFill>
              <a:srgbClr val="C47A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results did I get? Different authors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D4C7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6070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686A"/>
                </a:solidFill>
              </a:rPr>
              <a:t>Austen vs. Twain showed stronger differences.</a:t>
            </a:r>
            <a:endParaRPr lang="en-US" sz="2300" dirty="0"/>
          </a:p>
        </p:txBody>
      </p:sp>
      <p:pic>
        <p:nvPicPr>
          <p:cNvPr id="7" name="Image 0" descr="/mnt/data/slides_assets/cell12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52166"/>
            <a:ext cx="5943600" cy="37651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1572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25A"/>
                </a:solidFill>
              </a:rPr>
              <a:t>EXAMPLES PER 10,000 WORDS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995160" y="1984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25A"/>
                </a:solidFill>
              </a:rPr>
              <a:t>Word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1984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4E5B"/>
                </a:solidFill>
              </a:rPr>
              <a:t>Austen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46920" y="1984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686A"/>
                </a:solidFill>
              </a:rPr>
              <a:t>Twain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49440" y="2267712"/>
            <a:ext cx="3931920" cy="0"/>
          </a:xfrm>
          <a:prstGeom prst="line">
            <a:avLst/>
          </a:prstGeom>
          <a:noFill/>
          <a:ln w="10160">
            <a:solidFill>
              <a:srgbClr val="D4C7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must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B4E5B"/>
                </a:solidFill>
              </a:rPr>
              <a:t>51.6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64692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38686A"/>
                </a:solidFill>
              </a:rPr>
              <a:t>12.1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49440" y="2926080"/>
            <a:ext cx="3931920" cy="0"/>
          </a:xfrm>
          <a:prstGeom prst="line">
            <a:avLst/>
          </a:prstGeom>
          <a:noFill/>
          <a:ln w="10160">
            <a:solidFill>
              <a:srgbClr val="D4C7B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9516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got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22960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B4E5B"/>
                </a:solidFill>
              </a:rPr>
              <a:t>4.0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64692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38686A"/>
                </a:solidFill>
              </a:rPr>
              <a:t>106.9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949440" y="3584448"/>
            <a:ext cx="3931920" cy="0"/>
          </a:xfrm>
          <a:prstGeom prst="line">
            <a:avLst/>
          </a:prstGeom>
          <a:noFill/>
          <a:ln w="10160">
            <a:solidFill>
              <a:srgbClr val="D4C7B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9516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said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2960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B4E5B"/>
                </a:solidFill>
              </a:rPr>
              <a:t>61.3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64692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38686A"/>
                </a:solidFill>
              </a:rPr>
              <a:t>83.0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49440" y="47548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6B625A"/>
                </a:solidFill>
              </a:rPr>
              <a:t>Twain used informal/conversational words much more often, especially “got.” Austen used words like “must” more often.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F"/>
          </a:solidFill>
          <a:ln w="12700">
            <a:solidFill>
              <a:srgbClr val="F8F4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7A3B"/>
          </a:solidFill>
          <a:ln w="12700">
            <a:solidFill>
              <a:srgbClr val="C47A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Problems, statistical check, and new ideas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10972800" cy="0"/>
          </a:xfrm>
          <a:prstGeom prst="line">
            <a:avLst/>
          </a:prstGeom>
          <a:noFill/>
          <a:ln w="12700">
            <a:solidFill>
              <a:srgbClr val="D4C7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43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</a:rPr>
              <a:t>What problems did I encounter?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4800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Book length can distort raw word counts.</a:t>
            </a:r>
            <a:endParaRPr lang="en-US" sz="1650" dirty="0"/>
          </a:p>
          <a:p>
            <a:pPr marL="127000" indent="-127000">
              <a:buSzPct val="10000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Character names can look like style differences.</a:t>
            </a:r>
            <a:endParaRPr lang="en-US" sz="1650" dirty="0"/>
          </a:p>
          <a:p>
            <a:pPr marL="127000" indent="-127000">
              <a:buSzPct val="100000"/>
              <a:buChar char="•"/>
            </a:pPr>
            <a:r>
              <a:rPr lang="en-US" sz="1650" dirty="0">
                <a:solidFill>
                  <a:srgbClr val="1E1E1E"/>
                </a:solidFill>
              </a:rPr>
              <a:t>Setting and time period may explain some differences.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55080" y="1143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</a:rPr>
              <a:t>Extra-credit check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55080" y="16002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B625A"/>
                </a:solidFill>
              </a:rPr>
              <a:t>I tested whether selected words appeared at significantly different rates.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</a:rPr>
              <a:t>said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4E5B"/>
                </a:solidFill>
              </a:rPr>
              <a:t>similar in Austen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235440" y="2240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8686A"/>
                </a:solidFill>
              </a:rPr>
              <a:t>different in Twain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</a:rPr>
              <a:t>must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26974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4E5B"/>
                </a:solidFill>
              </a:rPr>
              <a:t>different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23544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8686A"/>
                </a:solidFill>
              </a:rPr>
              <a:t>very different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0" y="31546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</a:rPr>
              <a:t>got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54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B4E5B"/>
                </a:solidFill>
              </a:rPr>
              <a:t>similar in Austen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35440" y="3154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8686A"/>
                </a:solidFill>
              </a:rPr>
              <a:t>extremely different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12700">
            <a:solidFill>
              <a:srgbClr val="D4C7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</a:rPr>
              <a:t>What new ideas did this generate?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625A"/>
                </a:solidFill>
              </a:rPr>
              <a:t>A future version could remove character names, compare more books by each author, and test whether the patterns hold across a larger collection of novels.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5989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1E1E"/>
                </a:solidFill>
              </a:rPr>
              <a:t>Conclusion: word frequencies can reveal author/style differences, but context matters.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UTK CS 545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1 - Text Analysis</dc:title>
  <dc:subject>Mini Project 1 Text Analysis</dc:subject>
  <dc:creator>Daeyoung Kim</dc:creator>
  <cp:lastModifiedBy>Daeyoung Kim</cp:lastModifiedBy>
  <cp:revision>1</cp:revision>
  <dcterms:created xsi:type="dcterms:W3CDTF">2026-09-09T18:56:08Z</dcterms:created>
  <dcterms:modified xsi:type="dcterms:W3CDTF">2026-09-09T18:56:08Z</dcterms:modified>
</cp:coreProperties>
</file>