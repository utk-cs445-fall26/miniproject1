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embeddedFontLst>
    <p:embeddedFont>
      <p:font typeface="Roboto"/>
      <p:regular r:id="rId13"/>
      <p:bold r:id="rId14"/>
      <p:italic r:id="rId15"/>
      <p:boldItalic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Roboto-regular.fntdata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oboto-italic.fntdata"/><Relationship Id="rId14" Type="http://schemas.openxmlformats.org/officeDocument/2006/relationships/font" Target="fonts/Roboto-bold.fntdata"/><Relationship Id="rId16" Type="http://schemas.openxmlformats.org/officeDocument/2006/relationships/font" Target="fonts/Robot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fa0273280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fa0273280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fa02732804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fa02732804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fa82a31286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fa82a31286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fa4bfc323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fa4bfc323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fa82a31286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fa82a31286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fa4bfc3235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fa4bfc3235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flipH="1">
            <a:off x="8246400" y="4245925"/>
            <a:ext cx="897600" cy="8976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8246400" y="4245875"/>
            <a:ext cx="897600" cy="897600"/>
          </a:xfrm>
          <a:prstGeom prst="round1Rect">
            <a:avLst>
              <a:gd fmla="val 16667" name="adj"/>
            </a:avLst>
          </a:prstGeom>
          <a:solidFill>
            <a:schemeClr val="lt1">
              <a:alpha val="6808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5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" type="body"/>
          </p:nvPr>
        </p:nvSpPr>
        <p:spPr>
          <a:xfrm>
            <a:off x="47190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2" type="body"/>
          </p:nvPr>
        </p:nvSpPr>
        <p:spPr>
          <a:xfrm>
            <a:off x="469425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5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/>
          <p:nvPr/>
        </p:nvSpPr>
        <p:spPr>
          <a:xfrm flipH="1" rot="10800000">
            <a:off x="0" y="656400"/>
            <a:ext cx="9144000" cy="448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6"/>
          <p:cNvSpPr/>
          <p:nvPr/>
        </p:nvSpPr>
        <p:spPr>
          <a:xfrm>
            <a:off x="0" y="65635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6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/>
          <p:nvPr/>
        </p:nvSpPr>
        <p:spPr>
          <a:xfrm flipH="1" rot="10800000">
            <a:off x="3276600" y="25"/>
            <a:ext cx="58674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7"/>
          <p:cNvSpPr/>
          <p:nvPr/>
        </p:nvSpPr>
        <p:spPr>
          <a:xfrm rot="-5400000">
            <a:off x="759150" y="2517450"/>
            <a:ext cx="51435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7"/>
          <p:cNvSpPr txBox="1"/>
          <p:nvPr>
            <p:ph type="title"/>
          </p:nvPr>
        </p:nvSpPr>
        <p:spPr>
          <a:xfrm>
            <a:off x="226078" y="357800"/>
            <a:ext cx="2808000" cy="95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0" name="Google Shape;40;p7"/>
          <p:cNvSpPr txBox="1"/>
          <p:nvPr>
            <p:ph idx="1" type="body"/>
          </p:nvPr>
        </p:nvSpPr>
        <p:spPr>
          <a:xfrm>
            <a:off x="226075" y="1465800"/>
            <a:ext cx="2808000" cy="31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1" name="Google Shape;41;p7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/>
          <p:nvPr>
            <p:ph type="title"/>
          </p:nvPr>
        </p:nvSpPr>
        <p:spPr>
          <a:xfrm>
            <a:off x="490250" y="488250"/>
            <a:ext cx="6227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 flipH="1">
            <a:off x="0" y="0"/>
            <a:ext cx="45720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9"/>
          <p:cNvSpPr/>
          <p:nvPr/>
        </p:nvSpPr>
        <p:spPr>
          <a:xfrm rot="5400000">
            <a:off x="1946425" y="2517750"/>
            <a:ext cx="51429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9" name="Google Shape;49;p9"/>
          <p:cNvSpPr txBox="1"/>
          <p:nvPr>
            <p:ph idx="1" type="subTitle"/>
          </p:nvPr>
        </p:nvSpPr>
        <p:spPr>
          <a:xfrm>
            <a:off x="265500" y="2779467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0" name="Google Shape;50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" name="Google Shape;51;p9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/>
          <p:nvPr/>
        </p:nvSpPr>
        <p:spPr>
          <a:xfrm flipH="1" rot="10800000">
            <a:off x="0" y="0"/>
            <a:ext cx="9144000" cy="4695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10"/>
          <p:cNvSpPr/>
          <p:nvPr/>
        </p:nvSpPr>
        <p:spPr>
          <a:xfrm flipH="1" rot="10800000">
            <a:off x="0" y="4622725"/>
            <a:ext cx="9144000" cy="741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0"/>
          <p:cNvSpPr txBox="1"/>
          <p:nvPr>
            <p:ph idx="1" type="body"/>
          </p:nvPr>
        </p:nvSpPr>
        <p:spPr>
          <a:xfrm>
            <a:off x="57150" y="4696825"/>
            <a:ext cx="8382000" cy="44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</a:lstStyle>
          <a:p/>
        </p:txBody>
      </p:sp>
      <p:sp>
        <p:nvSpPr>
          <p:cNvPr id="56" name="Google Shape;56;p10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4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1"/>
          <p:cNvSpPr txBox="1"/>
          <p:nvPr>
            <p:ph hasCustomPrompt="1" type="title"/>
          </p:nvPr>
        </p:nvSpPr>
        <p:spPr>
          <a:xfrm>
            <a:off x="475500" y="1258525"/>
            <a:ext cx="82221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9" name="Google Shape;59;p11"/>
          <p:cNvSpPr txBox="1"/>
          <p:nvPr>
            <p:ph idx="1" type="body"/>
          </p:nvPr>
        </p:nvSpPr>
        <p:spPr>
          <a:xfrm>
            <a:off x="475500" y="3304625"/>
            <a:ext cx="82221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0" name="Google Shape;60;p1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accent4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aterial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●"/>
              <a:defRPr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3"/>
          <p:cNvSpPr txBox="1"/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Word F</a:t>
            </a:r>
            <a:r>
              <a:rPr lang="en"/>
              <a:t>requency with Tragedies</a:t>
            </a:r>
            <a:endParaRPr/>
          </a:p>
        </p:txBody>
      </p:sp>
      <p:sp>
        <p:nvSpPr>
          <p:cNvPr id="68" name="Google Shape;68;p13"/>
          <p:cNvSpPr txBox="1"/>
          <p:nvPr>
            <p:ph idx="1" type="subTitle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Noah Cash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was the question?</a:t>
            </a:r>
            <a:endParaRPr/>
          </a:p>
        </p:txBody>
      </p:sp>
      <p:sp>
        <p:nvSpPr>
          <p:cNvPr id="74" name="Google Shape;74;p14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Does William Shakespeare have similar writing style within his </a:t>
            </a:r>
            <a:r>
              <a:rPr lang="en"/>
              <a:t>writing? </a:t>
            </a:r>
            <a:r>
              <a:rPr lang="en"/>
              <a:t>Is it different to other authors in same era? (1600’s)</a:t>
            </a:r>
            <a:endParaRPr/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Can we </a:t>
            </a:r>
            <a:r>
              <a:rPr lang="en"/>
              <a:t>distinguish</a:t>
            </a:r>
            <a:r>
              <a:rPr lang="en"/>
              <a:t> an </a:t>
            </a:r>
            <a:r>
              <a:rPr lang="en"/>
              <a:t>author's</a:t>
            </a:r>
            <a:r>
              <a:rPr lang="en"/>
              <a:t> writing style from one </a:t>
            </a:r>
            <a:r>
              <a:rPr lang="en"/>
              <a:t>other</a:t>
            </a:r>
            <a:r>
              <a:rPr lang="en"/>
              <a:t> by using word frequency?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was the </a:t>
            </a:r>
            <a:r>
              <a:rPr lang="en"/>
              <a:t>approach?</a:t>
            </a:r>
            <a:endParaRPr/>
          </a:p>
        </p:txBody>
      </p:sp>
      <p:sp>
        <p:nvSpPr>
          <p:cNvPr id="80" name="Google Shape;80;p15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first </a:t>
            </a:r>
            <a:r>
              <a:rPr lang="en"/>
              <a:t>approach was to use two works from Shakespeare, one from Webster to compare.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To get the data, I had to clean up the data by removing stop words and the beginning text of the Project Gutenberg website.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 then computed the word frequencies to get the top 15 most used words in each work.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 also identified words that were used by one play and not the other.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6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were some problems</a:t>
            </a:r>
            <a:endParaRPr/>
          </a:p>
        </p:txBody>
      </p:sp>
      <p:sp>
        <p:nvSpPr>
          <p:cNvPr id="86" name="Google Shape;86;p16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 </a:t>
            </a:r>
            <a:r>
              <a:rPr lang="en"/>
              <a:t>would say that the hardest part of this was cleaning up the data to present it on the graphs.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Project Gutenberg website has a beginning chuck of words that is not in the works, so I had to remove it from data collection. 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7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were the results? (Same Author)</a:t>
            </a:r>
            <a:endParaRPr/>
          </a:p>
        </p:txBody>
      </p:sp>
      <p:pic>
        <p:nvPicPr>
          <p:cNvPr id="92" name="Google Shape;92;p17" title="Screenshot 2026-09-09 at 8.56.13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23475" y="1741700"/>
            <a:ext cx="6659952" cy="33136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8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were the results? (Different Author)</a:t>
            </a:r>
            <a:endParaRPr/>
          </a:p>
        </p:txBody>
      </p:sp>
      <p:sp>
        <p:nvSpPr>
          <p:cNvPr id="98" name="Google Shape;98;p18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9" name="Google Shape;99;p18" title="Screenshot 2026-09-09 at 9.04.12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51975" y="1656300"/>
            <a:ext cx="6338673" cy="32858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9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are new ideas?</a:t>
            </a:r>
            <a:endParaRPr/>
          </a:p>
        </p:txBody>
      </p:sp>
      <p:sp>
        <p:nvSpPr>
          <p:cNvPr id="105" name="Google Shape;105;p19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use of archaic pronouns (thou, thy, thee) is not </a:t>
            </a:r>
            <a:r>
              <a:rPr lang="en"/>
              <a:t>really a sign of a writing style but rather a reflection of the time period it was written in (Jacobean Era)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What would happen if I used the same technique to playwrights in today’s era? Just to see what types of words would be most popular.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aterial">
  <a:themeElements>
    <a:clrScheme name="Material">
      <a:dk1>
        <a:srgbClr val="4285F4"/>
      </a:dk1>
      <a:lt1>
        <a:srgbClr val="FFFFFF"/>
      </a:lt1>
      <a:dk2>
        <a:srgbClr val="424242"/>
      </a:dk2>
      <a:lt2>
        <a:srgbClr val="737373"/>
      </a:lt2>
      <a:accent1>
        <a:srgbClr val="0277BD"/>
      </a:accent1>
      <a:accent2>
        <a:srgbClr val="0F9D58"/>
      </a:accent2>
      <a:accent3>
        <a:srgbClr val="DB4437"/>
      </a:accent3>
      <a:accent4>
        <a:srgbClr val="FAFAFA"/>
      </a:accent4>
      <a:accent5>
        <a:srgbClr val="1A237E"/>
      </a:accent5>
      <a:accent6>
        <a:srgbClr val="F4B400"/>
      </a:accent6>
      <a:hlink>
        <a:srgbClr val="1A237E"/>
      </a:hlink>
      <a:folHlink>
        <a:srgbClr val="1A237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