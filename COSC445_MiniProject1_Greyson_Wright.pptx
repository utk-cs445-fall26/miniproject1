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1675"/>
  <p:notesSz cx="6858000" cy="9144000"/>
  <p:embeddedFontLst>
    <p:embeddedFont>
      <p:font typeface="Play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lay-bold.fntdata"/><Relationship Id="rId16" Type="http://schemas.openxmlformats.org/officeDocument/2006/relationships/font" Target="fonts/Play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329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685863" y="449515"/>
            <a:ext cx="71322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6F8FC"/>
                </a:solidFill>
                <a:latin typeface="Play"/>
                <a:ea typeface="Play"/>
                <a:cs typeface="Play"/>
                <a:sym typeface="Play"/>
              </a:rPr>
              <a:t>Mini Project 1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685875" y="1064527"/>
            <a:ext cx="8961000" cy="3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B9C5DA"/>
                </a:solidFill>
                <a:latin typeface="Arial"/>
                <a:ea typeface="Arial"/>
                <a:cs typeface="Arial"/>
                <a:sym typeface="Arial"/>
              </a:rPr>
              <a:t>Word Frequency Analysis: Arthur Conan Doyle vs. H. G. Wells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-6" y="6313755"/>
            <a:ext cx="3840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F6F8FC"/>
                </a:solidFill>
                <a:latin typeface="Arial"/>
                <a:ea typeface="Arial"/>
                <a:cs typeface="Arial"/>
                <a:sym typeface="Arial"/>
              </a:rPr>
              <a:t>Greyson Wright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5657" y="6580658"/>
            <a:ext cx="3840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B9C5DA"/>
                </a:solidFill>
                <a:latin typeface="Arial"/>
                <a:ea typeface="Arial"/>
                <a:cs typeface="Arial"/>
                <a:sym typeface="Arial"/>
              </a:rPr>
              <a:t>COSC 445 • Fall 2026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1475720" y="6510528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B9C5D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pic>
        <p:nvPicPr>
          <p:cNvPr id="89" name="Google Shape;8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3136" y="1763513"/>
            <a:ext cx="3403611" cy="448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83878" y="1763514"/>
            <a:ext cx="3215854" cy="4489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329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/>
        </p:nvSpPr>
        <p:spPr>
          <a:xfrm>
            <a:off x="502920" y="256032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6F8FC"/>
                </a:solidFill>
                <a:latin typeface="Play"/>
                <a:ea typeface="Play"/>
                <a:cs typeface="Play"/>
                <a:sym typeface="Play"/>
              </a:rPr>
              <a:t>Question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30352" y="713232"/>
            <a:ext cx="795527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B9C5DA"/>
                </a:solidFill>
                <a:latin typeface="Arial"/>
                <a:ea typeface="Arial"/>
                <a:cs typeface="Arial"/>
                <a:sym typeface="Arial"/>
              </a:rPr>
              <a:t>What </a:t>
            </a:r>
            <a:r>
              <a:rPr lang="en-US" sz="1100">
                <a:solidFill>
                  <a:srgbClr val="B9C5DA"/>
                </a:solidFill>
              </a:rPr>
              <a:t>is the goal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0" y="1024128"/>
            <a:ext cx="12191695" cy="68580"/>
          </a:xfrm>
          <a:prstGeom prst="rect">
            <a:avLst/>
          </a:prstGeom>
          <a:solidFill>
            <a:srgbClr val="FF8200"/>
          </a:solidFill>
          <a:ln cap="flat" cmpd="sng" w="9525">
            <a:solidFill>
              <a:srgbClr val="FF82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548640" y="1325880"/>
            <a:ext cx="3977639" cy="5074920"/>
          </a:xfrm>
          <a:prstGeom prst="roundRect">
            <a:avLst>
              <a:gd fmla="val 16667" name="adj"/>
            </a:avLst>
          </a:prstGeom>
          <a:solidFill>
            <a:srgbClr val="172849"/>
          </a:solidFill>
          <a:ln cap="flat" cmpd="sng" w="12700">
            <a:solidFill>
              <a:srgbClr val="46699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777240" y="1554480"/>
            <a:ext cx="3520439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8200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00097" y="2075698"/>
            <a:ext cx="3474600" cy="42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6F8FC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F6F8FC"/>
                </a:solidFill>
              </a:rPr>
              <a:t>How do word frequencies differ between Arthur Conan Doyle and H. G. Wells?</a:t>
            </a:r>
            <a:endParaRPr sz="1800">
              <a:solidFill>
                <a:srgbClr val="F6F8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6F8FC"/>
              </a:solidFill>
            </a:endParaRPr>
          </a:p>
          <a:p>
            <a: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F6F8FC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F6F8FC"/>
                </a:solidFill>
              </a:rPr>
              <a:t>Are there words that one author uses noticeably more often than the other?</a:t>
            </a:r>
            <a:endParaRPr sz="1800">
              <a:solidFill>
                <a:srgbClr val="F6F8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6F8FC"/>
              </a:solidFill>
            </a:endParaRPr>
          </a:p>
          <a:p>
            <a: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F6F8FC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F6F8FC"/>
                </a:solidFill>
              </a:rPr>
              <a:t>How consistent are those word-frequency patterns across two works by the same author?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4800600" y="1325880"/>
            <a:ext cx="6812280" cy="5074920"/>
          </a:xfrm>
          <a:prstGeom prst="roundRect">
            <a:avLst>
              <a:gd fmla="val 16667" name="adj"/>
            </a:avLst>
          </a:prstGeom>
          <a:solidFill>
            <a:srgbClr val="0F1D3A"/>
          </a:solidFill>
          <a:ln cap="flat" cmpd="sng" w="12700">
            <a:solidFill>
              <a:srgbClr val="46699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5056632" y="1527048"/>
            <a:ext cx="6309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8200"/>
                </a:solidFill>
                <a:latin typeface="Arial"/>
                <a:ea typeface="Arial"/>
                <a:cs typeface="Arial"/>
                <a:sym typeface="Arial"/>
              </a:rPr>
              <a:t>Texts used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5120640" y="2011680"/>
            <a:ext cx="6172200" cy="4160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6F8FC"/>
                </a:solidFill>
                <a:latin typeface="Courier New"/>
                <a:ea typeface="Courier New"/>
                <a:cs typeface="Courier New"/>
                <a:sym typeface="Courier New"/>
              </a:rPr>
              <a:t>Arthur Conan Doyle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6F8FC"/>
                </a:solidFill>
                <a:latin typeface="Courier New"/>
                <a:ea typeface="Courier New"/>
                <a:cs typeface="Courier New"/>
                <a:sym typeface="Courier New"/>
              </a:rPr>
              <a:t>  • The Adventures of Sherlock Holmes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6F8FC"/>
                </a:solidFill>
                <a:latin typeface="Courier New"/>
                <a:ea typeface="Courier New"/>
                <a:cs typeface="Courier New"/>
                <a:sym typeface="Courier New"/>
              </a:rPr>
              <a:t>  • The Hound of the Baskervilles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6F8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6F8FC"/>
                </a:solidFill>
                <a:latin typeface="Courier New"/>
                <a:ea typeface="Courier New"/>
                <a:cs typeface="Courier New"/>
                <a:sym typeface="Courier New"/>
              </a:rPr>
              <a:t>H. G. Wells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6F8FC"/>
                </a:solidFill>
                <a:latin typeface="Courier New"/>
                <a:ea typeface="Courier New"/>
                <a:cs typeface="Courier New"/>
                <a:sym typeface="Courier New"/>
              </a:rPr>
              <a:t>  • The Time Machine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6F8FC"/>
                </a:solidFill>
                <a:latin typeface="Courier New"/>
                <a:ea typeface="Courier New"/>
                <a:cs typeface="Courier New"/>
                <a:sym typeface="Courier New"/>
              </a:rPr>
              <a:t>  • The War of the Worlds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6F8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6F8FC"/>
                </a:solidFill>
                <a:latin typeface="Courier New"/>
                <a:ea typeface="Courier New"/>
                <a:cs typeface="Courier New"/>
                <a:sym typeface="Courier New"/>
              </a:rPr>
              <a:t>books = {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6F8FC"/>
                </a:solidFill>
                <a:latin typeface="Courier New"/>
                <a:ea typeface="Courier New"/>
                <a:cs typeface="Courier New"/>
                <a:sym typeface="Courier New"/>
              </a:rPr>
              <a:t>  "Doyle": ["Sherlock Holmes", "Hound"],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6F8FC"/>
                </a:solidFill>
                <a:latin typeface="Courier New"/>
                <a:ea typeface="Courier New"/>
                <a:cs typeface="Courier New"/>
                <a:sym typeface="Courier New"/>
              </a:rPr>
              <a:t>  "Wells": ["Time Machine", "War of the Worlds"]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6F8FC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530352" y="6510528"/>
            <a:ext cx="2926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B9C5DA"/>
                </a:solidFill>
                <a:latin typeface="Arial"/>
                <a:ea typeface="Arial"/>
                <a:cs typeface="Arial"/>
                <a:sym typeface="Arial"/>
              </a:rPr>
              <a:t>COSC 445 Mini Project 1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1475720" y="6510528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B9C5D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329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/>
        </p:nvSpPr>
        <p:spPr>
          <a:xfrm>
            <a:off x="502920" y="256032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6F8FC"/>
                </a:solidFill>
                <a:latin typeface="Play"/>
                <a:ea typeface="Play"/>
                <a:cs typeface="Play"/>
                <a:sym typeface="Play"/>
              </a:rPr>
              <a:t>Method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530352" y="713232"/>
            <a:ext cx="795527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B9C5DA"/>
                </a:solidFill>
                <a:latin typeface="Arial"/>
                <a:ea typeface="Arial"/>
                <a:cs typeface="Arial"/>
                <a:sym typeface="Arial"/>
              </a:rPr>
              <a:t>How I made the texts comparable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0" y="1024128"/>
            <a:ext cx="12191695" cy="68580"/>
          </a:xfrm>
          <a:prstGeom prst="rect">
            <a:avLst/>
          </a:prstGeom>
          <a:solidFill>
            <a:srgbClr val="FF8200"/>
          </a:solidFill>
          <a:ln cap="flat" cmpd="sng" w="9525">
            <a:solidFill>
              <a:srgbClr val="FF82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548640" y="1325880"/>
            <a:ext cx="3977639" cy="5074920"/>
          </a:xfrm>
          <a:prstGeom prst="roundRect">
            <a:avLst>
              <a:gd fmla="val 16667" name="adj"/>
            </a:avLst>
          </a:prstGeom>
          <a:solidFill>
            <a:srgbClr val="172849"/>
          </a:solidFill>
          <a:ln cap="flat" cmpd="sng" w="12700">
            <a:solidFill>
              <a:srgbClr val="46699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777240" y="1554480"/>
            <a:ext cx="3520439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8200"/>
                </a:solidFill>
                <a:latin typeface="Arial"/>
                <a:ea typeface="Arial"/>
                <a:cs typeface="Arial"/>
                <a:sym typeface="Arial"/>
              </a:rPr>
              <a:t>Steps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04672" y="1965960"/>
            <a:ext cx="347472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6F8FC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F6F8FC"/>
                </a:solidFill>
                <a:latin typeface="Arial"/>
                <a:ea typeface="Arial"/>
                <a:cs typeface="Arial"/>
                <a:sym typeface="Arial"/>
              </a:rPr>
              <a:t>I downloaded plain-text files from Project Gutenberg.</a:t>
            </a:r>
            <a:endParaRPr sz="1800">
              <a:solidFill>
                <a:srgbClr val="F6F8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6F8FC"/>
              </a:solidFill>
            </a:endParaRPr>
          </a:p>
          <a:p>
            <a: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F6F8FC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F6F8FC"/>
                </a:solidFill>
                <a:latin typeface="Arial"/>
                <a:ea typeface="Arial"/>
                <a:cs typeface="Arial"/>
                <a:sym typeface="Arial"/>
              </a:rPr>
              <a:t>I lowercased the text, removed punctuation, and counted words with Counter.</a:t>
            </a:r>
            <a:endParaRPr sz="1800">
              <a:solidFill>
                <a:srgbClr val="F6F8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6F8FC"/>
              </a:solidFill>
            </a:endParaRPr>
          </a:p>
          <a:p>
            <a: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F6F8FC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F6F8FC"/>
                </a:solidFill>
                <a:latin typeface="Arial"/>
                <a:ea typeface="Arial"/>
                <a:cs typeface="Arial"/>
                <a:sym typeface="Arial"/>
              </a:rPr>
              <a:t>I removed common stop words so that words like “the” and “and” did not dominate.</a:t>
            </a:r>
            <a:endParaRPr sz="1800">
              <a:solidFill>
                <a:srgbClr val="F6F8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6F8FC"/>
              </a:solidFill>
            </a:endParaRPr>
          </a:p>
          <a:p>
            <a: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F6F8FC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F6F8FC"/>
                </a:solidFill>
                <a:latin typeface="Arial"/>
                <a:ea typeface="Arial"/>
                <a:cs typeface="Arial"/>
                <a:sym typeface="Arial"/>
              </a:rPr>
              <a:t>I normalized every count to occurrences per 10,000 words.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4800600" y="1325880"/>
            <a:ext cx="6812280" cy="5074920"/>
          </a:xfrm>
          <a:prstGeom prst="roundRect">
            <a:avLst>
              <a:gd fmla="val 16667" name="adj"/>
            </a:avLst>
          </a:prstGeom>
          <a:solidFill>
            <a:srgbClr val="0F1D3A"/>
          </a:solidFill>
          <a:ln cap="flat" cmpd="sng" w="12700">
            <a:solidFill>
              <a:srgbClr val="46699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5056632" y="1527048"/>
            <a:ext cx="6309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4CBEF0"/>
                </a:solidFill>
                <a:latin typeface="Arial"/>
                <a:ea typeface="Arial"/>
                <a:cs typeface="Arial"/>
                <a:sym typeface="Arial"/>
              </a:rPr>
              <a:t>Core code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5097763" y="2837486"/>
            <a:ext cx="6227100" cy="20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6F8FC"/>
                </a:solidFill>
                <a:latin typeface="Courier New"/>
                <a:ea typeface="Courier New"/>
                <a:cs typeface="Courier New"/>
                <a:sym typeface="Courier New"/>
              </a:rPr>
              <a:t>words = re.findall(r"[a-z']+", text.lower())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6F8FC"/>
                </a:solidFill>
                <a:latin typeface="Courier New"/>
                <a:ea typeface="Courier New"/>
                <a:cs typeface="Courier New"/>
                <a:sym typeface="Courier New"/>
              </a:rPr>
              <a:t>words = [w for w in words if w not in stop_words]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6F8FC"/>
                </a:solidFill>
                <a:latin typeface="Courier New"/>
                <a:ea typeface="Courier New"/>
                <a:cs typeface="Courier New"/>
                <a:sym typeface="Courier New"/>
              </a:rPr>
              <a:t>counts = Counter(words)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6F8FC"/>
                </a:solidFill>
                <a:latin typeface="Courier New"/>
                <a:ea typeface="Courier New"/>
                <a:cs typeface="Courier New"/>
                <a:sym typeface="Courier New"/>
              </a:rPr>
              <a:t>freq = count / total_words * 10000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6F8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6F8FC"/>
                </a:solidFill>
                <a:latin typeface="Courier New"/>
                <a:ea typeface="Courier New"/>
                <a:cs typeface="Courier New"/>
                <a:sym typeface="Courier New"/>
              </a:rPr>
              <a:t># Normalization matters because longer books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6F8FC"/>
                </a:solidFill>
                <a:latin typeface="Courier New"/>
                <a:ea typeface="Courier New"/>
                <a:cs typeface="Courier New"/>
                <a:sym typeface="Courier New"/>
              </a:rPr>
              <a:t># naturally contain more total words.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530352" y="6510528"/>
            <a:ext cx="2926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B9C5DA"/>
                </a:solidFill>
                <a:latin typeface="Arial"/>
                <a:ea typeface="Arial"/>
                <a:cs typeface="Arial"/>
                <a:sym typeface="Arial"/>
              </a:rPr>
              <a:t>COSC 445 Mini Project 1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11475720" y="6510528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B9C5D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329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 txBox="1"/>
          <p:nvPr/>
        </p:nvSpPr>
        <p:spPr>
          <a:xfrm>
            <a:off x="502920" y="256032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6F8FC"/>
                </a:solidFill>
                <a:latin typeface="Play"/>
                <a:ea typeface="Play"/>
                <a:cs typeface="Play"/>
                <a:sym typeface="Play"/>
              </a:rPr>
              <a:t>First Pass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530352" y="713232"/>
            <a:ext cx="795527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B9C5DA"/>
                </a:solidFill>
                <a:latin typeface="Arial"/>
                <a:ea typeface="Arial"/>
                <a:cs typeface="Arial"/>
                <a:sym typeface="Arial"/>
              </a:rPr>
              <a:t>Initial Doyle vs. Wells comparison</a:t>
            </a:r>
            <a:endParaRPr/>
          </a:p>
        </p:txBody>
      </p:sp>
      <p:sp>
        <p:nvSpPr>
          <p:cNvPr id="127" name="Google Shape;127;p16"/>
          <p:cNvSpPr/>
          <p:nvPr/>
        </p:nvSpPr>
        <p:spPr>
          <a:xfrm>
            <a:off x="0" y="1024128"/>
            <a:ext cx="12191695" cy="68580"/>
          </a:xfrm>
          <a:prstGeom prst="rect">
            <a:avLst/>
          </a:prstGeom>
          <a:solidFill>
            <a:srgbClr val="FF8200"/>
          </a:solidFill>
          <a:ln cap="flat" cmpd="sng" w="9525">
            <a:solidFill>
              <a:srgbClr val="FF82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548640" y="1325880"/>
            <a:ext cx="3977639" cy="5074920"/>
          </a:xfrm>
          <a:prstGeom prst="roundRect">
            <a:avLst>
              <a:gd fmla="val 16667" name="adj"/>
            </a:avLst>
          </a:prstGeom>
          <a:solidFill>
            <a:srgbClr val="172849"/>
          </a:solidFill>
          <a:ln cap="flat" cmpd="sng" w="12700">
            <a:solidFill>
              <a:srgbClr val="46699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777240" y="1554480"/>
            <a:ext cx="3520439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8200"/>
                </a:solidFill>
                <a:latin typeface="Arial"/>
                <a:ea typeface="Arial"/>
                <a:cs typeface="Arial"/>
                <a:sym typeface="Arial"/>
              </a:rPr>
              <a:t>Interpretation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804672" y="1965960"/>
            <a:ext cx="347472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6F8FC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F6F8FC"/>
                </a:solidFill>
                <a:latin typeface="Arial"/>
                <a:ea typeface="Arial"/>
                <a:cs typeface="Arial"/>
                <a:sym typeface="Arial"/>
              </a:rPr>
              <a:t>The first author comparison showed very large differences between Doyle and Wells.</a:t>
            </a:r>
            <a:endParaRPr sz="1800">
              <a:solidFill>
                <a:srgbClr val="F6F8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6F8FC"/>
              </a:solidFill>
            </a:endParaRPr>
          </a:p>
          <a:p>
            <a: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F6F8FC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F6F8FC"/>
                </a:solidFill>
                <a:latin typeface="Arial"/>
                <a:ea typeface="Arial"/>
                <a:cs typeface="Arial"/>
                <a:sym typeface="Arial"/>
              </a:rPr>
              <a:t>Doyle was dominated by Sherlock-related words such as “holmes.”</a:t>
            </a:r>
            <a:endParaRPr sz="1800">
              <a:solidFill>
                <a:srgbClr val="F6F8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6F8FC"/>
              </a:solidFill>
            </a:endParaRPr>
          </a:p>
          <a:p>
            <a: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F6F8FC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F6F8FC"/>
                </a:solidFill>
                <a:latin typeface="Arial"/>
                <a:ea typeface="Arial"/>
                <a:cs typeface="Arial"/>
                <a:sym typeface="Arial"/>
              </a:rPr>
              <a:t>Wells was dominated by subject words such as “time,” “machine,” and “martians.”</a:t>
            </a:r>
            <a:endParaRPr sz="1800">
              <a:solidFill>
                <a:srgbClr val="F6F8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6F8FC"/>
              </a:solidFill>
            </a:endParaRPr>
          </a:p>
          <a:p>
            <a: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F6F8FC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F6F8FC"/>
                </a:solidFill>
                <a:latin typeface="Arial"/>
                <a:ea typeface="Arial"/>
                <a:cs typeface="Arial"/>
                <a:sym typeface="Arial"/>
              </a:rPr>
              <a:t>This made the result useful, but it also exposed a topic problem.</a:t>
            </a: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4800600" y="1325880"/>
            <a:ext cx="6812280" cy="5074920"/>
          </a:xfrm>
          <a:prstGeom prst="roundRect">
            <a:avLst>
              <a:gd fmla="val 16667" name="adj"/>
            </a:avLst>
          </a:prstGeom>
          <a:solidFill>
            <a:srgbClr val="F4F6FA"/>
          </a:solidFill>
          <a:ln cap="flat" cmpd="sng" w="12700">
            <a:solidFill>
              <a:srgbClr val="46699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art1.png" id="132" name="Google Shape;13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5192" y="2126818"/>
            <a:ext cx="6483096" cy="3217011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5029200" y="6080760"/>
            <a:ext cx="6355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3C3C46"/>
                </a:solidFill>
                <a:latin typeface="Arial"/>
                <a:ea typeface="Arial"/>
                <a:cs typeface="Arial"/>
                <a:sym typeface="Arial"/>
              </a:rPr>
              <a:t>Original author comparison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530352" y="6510528"/>
            <a:ext cx="2926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B9C5DA"/>
                </a:solidFill>
                <a:latin typeface="Arial"/>
                <a:ea typeface="Arial"/>
                <a:cs typeface="Arial"/>
                <a:sym typeface="Arial"/>
              </a:rPr>
              <a:t>COSC 445 Mini Project 1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11475720" y="6510528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B9C5D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329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7"/>
          <p:cNvSpPr txBox="1"/>
          <p:nvPr/>
        </p:nvSpPr>
        <p:spPr>
          <a:xfrm>
            <a:off x="502920" y="256032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6F8FC"/>
                </a:solidFill>
                <a:latin typeface="Play"/>
                <a:ea typeface="Play"/>
                <a:cs typeface="Play"/>
                <a:sym typeface="Play"/>
              </a:rPr>
              <a:t>Confound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530352" y="713232"/>
            <a:ext cx="795527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B9C5DA"/>
                </a:solidFill>
                <a:latin typeface="Arial"/>
                <a:ea typeface="Arial"/>
                <a:cs typeface="Arial"/>
                <a:sym typeface="Arial"/>
              </a:rPr>
              <a:t>The first graph mixed style with story content</a:t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0" y="1024128"/>
            <a:ext cx="12191695" cy="68580"/>
          </a:xfrm>
          <a:prstGeom prst="rect">
            <a:avLst/>
          </a:prstGeom>
          <a:solidFill>
            <a:srgbClr val="FF8200"/>
          </a:solidFill>
          <a:ln cap="flat" cmpd="sng" w="9525">
            <a:solidFill>
              <a:srgbClr val="FF82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548640" y="1325880"/>
            <a:ext cx="3977639" cy="5074920"/>
          </a:xfrm>
          <a:prstGeom prst="roundRect">
            <a:avLst>
              <a:gd fmla="val 16667" name="adj"/>
            </a:avLst>
          </a:prstGeom>
          <a:solidFill>
            <a:srgbClr val="172849"/>
          </a:solidFill>
          <a:ln cap="flat" cmpd="sng" w="12700">
            <a:solidFill>
              <a:srgbClr val="46699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777240" y="1554480"/>
            <a:ext cx="3520439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8200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804672" y="1965960"/>
            <a:ext cx="347472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6F8FC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F6F8FC"/>
                </a:solidFill>
                <a:latin typeface="Arial"/>
                <a:ea typeface="Arial"/>
                <a:cs typeface="Arial"/>
                <a:sym typeface="Arial"/>
              </a:rPr>
              <a:t>The highest-impact terms were often character names or words tied to a specific plot.</a:t>
            </a:r>
            <a:endParaRPr sz="1800">
              <a:solidFill>
                <a:srgbClr val="F6F8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6F8FC"/>
              </a:solidFill>
            </a:endParaRPr>
          </a:p>
          <a:p>
            <a: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F6F8FC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F6F8FC"/>
                </a:solidFill>
                <a:latin typeface="Arial"/>
                <a:ea typeface="Arial"/>
                <a:cs typeface="Arial"/>
                <a:sym typeface="Arial"/>
              </a:rPr>
              <a:t>That means the graph did not cleanly separate author style from book subject matter.</a:t>
            </a:r>
            <a:endParaRPr sz="1800">
              <a:solidFill>
                <a:srgbClr val="F6F8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6F8FC"/>
              </a:solidFill>
            </a:endParaRPr>
          </a:p>
          <a:p>
            <a: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F6F8FC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F6F8FC"/>
                </a:solidFill>
                <a:latin typeface="Arial"/>
                <a:ea typeface="Arial"/>
                <a:cs typeface="Arial"/>
                <a:sym typeface="Arial"/>
              </a:rPr>
              <a:t>I treated this as a limitation and ran a second comparison with obvious story-specific words removed.</a:t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4800600" y="1325880"/>
            <a:ext cx="6812280" cy="5074920"/>
          </a:xfrm>
          <a:prstGeom prst="roundRect">
            <a:avLst>
              <a:gd fmla="val 16667" name="adj"/>
            </a:avLst>
          </a:prstGeom>
          <a:solidFill>
            <a:srgbClr val="0F1D3A"/>
          </a:solidFill>
          <a:ln cap="flat" cmpd="sng" w="12700">
            <a:solidFill>
              <a:srgbClr val="46699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5056632" y="1527048"/>
            <a:ext cx="6309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8200"/>
                </a:solidFill>
                <a:latin typeface="Arial"/>
                <a:ea typeface="Arial"/>
                <a:cs typeface="Arial"/>
                <a:sym typeface="Arial"/>
              </a:rPr>
              <a:t>Filtered terms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5097763" y="2807186"/>
            <a:ext cx="6227100" cy="21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6F8FC"/>
                </a:solidFill>
                <a:latin typeface="Courier New"/>
                <a:ea typeface="Courier New"/>
                <a:cs typeface="Courier New"/>
                <a:sym typeface="Courier New"/>
              </a:rPr>
              <a:t>story_specific_words = {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6F8FC"/>
                </a:solidFill>
                <a:latin typeface="Courier New"/>
                <a:ea typeface="Courier New"/>
                <a:cs typeface="Courier New"/>
                <a:sym typeface="Courier New"/>
              </a:rPr>
              <a:t>  "holmes", "watson", "moor", "henry",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6F8FC"/>
                </a:solidFill>
                <a:latin typeface="Courier New"/>
                <a:ea typeface="Courier New"/>
                <a:cs typeface="Courier New"/>
                <a:sym typeface="Courier New"/>
              </a:rPr>
              <a:t>  "time", "machine", "martians", "traveller"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6F8FC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6F8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6F8FC"/>
                </a:solidFill>
                <a:latin typeface="Courier New"/>
                <a:ea typeface="Courier New"/>
                <a:cs typeface="Courier New"/>
                <a:sym typeface="Courier New"/>
              </a:rPr>
              <a:t># These terms were removed only for the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6F8FC"/>
                </a:solidFill>
                <a:latin typeface="Courier New"/>
                <a:ea typeface="Courier New"/>
                <a:cs typeface="Courier New"/>
                <a:sym typeface="Courier New"/>
              </a:rPr>
              <a:t># second author-level comparison.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530352" y="6510528"/>
            <a:ext cx="2926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B9C5DA"/>
                </a:solidFill>
                <a:latin typeface="Arial"/>
                <a:ea typeface="Arial"/>
                <a:cs typeface="Arial"/>
                <a:sym typeface="Arial"/>
              </a:rPr>
              <a:t>COSC 445 Mini Project 1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11475720" y="6510528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B9C5DA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329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8"/>
          <p:cNvSpPr txBox="1"/>
          <p:nvPr/>
        </p:nvSpPr>
        <p:spPr>
          <a:xfrm>
            <a:off x="502920" y="256032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6F8FC"/>
                </a:solidFill>
                <a:latin typeface="Play"/>
                <a:ea typeface="Play"/>
                <a:cs typeface="Play"/>
                <a:sym typeface="Play"/>
              </a:rPr>
              <a:t>Second Pass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530352" y="713232"/>
            <a:ext cx="795527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B9C5DA"/>
                </a:solidFill>
                <a:latin typeface="Arial"/>
                <a:ea typeface="Arial"/>
                <a:cs typeface="Arial"/>
                <a:sym typeface="Arial"/>
              </a:rPr>
              <a:t>Doyle vs. Wells after story-word filtering</a:t>
            </a:r>
            <a:endParaRPr/>
          </a:p>
        </p:txBody>
      </p:sp>
      <p:sp>
        <p:nvSpPr>
          <p:cNvPr id="157" name="Google Shape;157;p18"/>
          <p:cNvSpPr/>
          <p:nvPr/>
        </p:nvSpPr>
        <p:spPr>
          <a:xfrm>
            <a:off x="0" y="1024128"/>
            <a:ext cx="12191695" cy="68580"/>
          </a:xfrm>
          <a:prstGeom prst="rect">
            <a:avLst/>
          </a:prstGeom>
          <a:solidFill>
            <a:srgbClr val="FF8200"/>
          </a:solidFill>
          <a:ln cap="flat" cmpd="sng" w="9525">
            <a:solidFill>
              <a:srgbClr val="FF82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548640" y="1325880"/>
            <a:ext cx="3977639" cy="5074920"/>
          </a:xfrm>
          <a:prstGeom prst="roundRect">
            <a:avLst>
              <a:gd fmla="val 16667" name="adj"/>
            </a:avLst>
          </a:prstGeom>
          <a:solidFill>
            <a:srgbClr val="172849"/>
          </a:solidFill>
          <a:ln cap="flat" cmpd="sng" w="12700">
            <a:solidFill>
              <a:srgbClr val="46699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 txBox="1"/>
          <p:nvPr/>
        </p:nvSpPr>
        <p:spPr>
          <a:xfrm>
            <a:off x="777240" y="1554480"/>
            <a:ext cx="3520439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8200"/>
                </a:solidFill>
                <a:latin typeface="Arial"/>
                <a:ea typeface="Arial"/>
                <a:cs typeface="Arial"/>
                <a:sym typeface="Arial"/>
              </a:rPr>
              <a:t>Main result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804672" y="1965960"/>
            <a:ext cx="347472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334328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6F8FC"/>
              </a:buClr>
              <a:buSzPct val="100000"/>
              <a:buFont typeface="Arial"/>
              <a:buChar char="●"/>
            </a:pPr>
            <a:r>
              <a:rPr lang="en-US" sz="1800">
                <a:solidFill>
                  <a:srgbClr val="F6F8FC"/>
                </a:solidFill>
                <a:latin typeface="Arial"/>
                <a:ea typeface="Arial"/>
                <a:cs typeface="Arial"/>
                <a:sym typeface="Arial"/>
              </a:rPr>
              <a:t>After filtering obvious story-specific terms, differences between the authors still remained.</a:t>
            </a:r>
            <a:endParaRPr sz="1800">
              <a:solidFill>
                <a:srgbClr val="F6F8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6F8FC"/>
              </a:solidFill>
            </a:endParaRPr>
          </a:p>
          <a:p>
            <a:pPr indent="-334328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F6F8FC"/>
              </a:buClr>
              <a:buSzPct val="100000"/>
              <a:buFont typeface="Arial"/>
              <a:buChar char="●"/>
            </a:pPr>
            <a:r>
              <a:rPr lang="en-US" sz="1800">
                <a:solidFill>
                  <a:srgbClr val="F6F8FC"/>
                </a:solidFill>
                <a:latin typeface="Arial"/>
                <a:ea typeface="Arial"/>
                <a:cs typeface="Arial"/>
                <a:sym typeface="Arial"/>
              </a:rPr>
              <a:t>Doyle used words such as “man,” “well,” “our,” “us,” and “know” more often.</a:t>
            </a:r>
            <a:endParaRPr sz="1800">
              <a:solidFill>
                <a:srgbClr val="F6F8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6F8FC"/>
              </a:solidFill>
            </a:endParaRPr>
          </a:p>
          <a:p>
            <a:pPr indent="-334328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F6F8FC"/>
              </a:buClr>
              <a:buSzPct val="100000"/>
              <a:buFont typeface="Arial"/>
              <a:buChar char="●"/>
            </a:pPr>
            <a:r>
              <a:rPr lang="en-US" sz="1800">
                <a:solidFill>
                  <a:srgbClr val="F6F8FC"/>
                </a:solidFill>
                <a:latin typeface="Arial"/>
                <a:ea typeface="Arial"/>
                <a:cs typeface="Arial"/>
                <a:sym typeface="Arial"/>
              </a:rPr>
              <a:t>Wells used words such as “people,” “saw,” “seemed,” “these,” and “again” more often.</a:t>
            </a:r>
            <a:endParaRPr sz="1800">
              <a:solidFill>
                <a:srgbClr val="F6F8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6F8FC"/>
              </a:solidFill>
            </a:endParaRPr>
          </a:p>
          <a:p>
            <a:pPr indent="-334328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F6F8FC"/>
              </a:buClr>
              <a:buSzPct val="100000"/>
              <a:buFont typeface="Arial"/>
              <a:buChar char="●"/>
            </a:pPr>
            <a:r>
              <a:rPr lang="en-US" sz="1800">
                <a:solidFill>
                  <a:srgbClr val="F6F8FC"/>
                </a:solidFill>
                <a:latin typeface="Arial"/>
                <a:ea typeface="Arial"/>
                <a:cs typeface="Arial"/>
                <a:sym typeface="Arial"/>
              </a:rPr>
              <a:t>This comparison was more useful, although it still required judgment.</a:t>
            </a:r>
            <a:endParaRPr/>
          </a:p>
        </p:txBody>
      </p:sp>
      <p:sp>
        <p:nvSpPr>
          <p:cNvPr id="161" name="Google Shape;161;p18"/>
          <p:cNvSpPr/>
          <p:nvPr/>
        </p:nvSpPr>
        <p:spPr>
          <a:xfrm>
            <a:off x="4800600" y="1325880"/>
            <a:ext cx="6812280" cy="5074920"/>
          </a:xfrm>
          <a:prstGeom prst="roundRect">
            <a:avLst>
              <a:gd fmla="val 16667" name="adj"/>
            </a:avLst>
          </a:prstGeom>
          <a:solidFill>
            <a:srgbClr val="F4F6FA"/>
          </a:solidFill>
          <a:ln cap="flat" cmpd="sng" w="12700">
            <a:solidFill>
              <a:srgbClr val="46699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art2.png" id="162" name="Google Shape;16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5192" y="2126818"/>
            <a:ext cx="6483096" cy="3217011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5029200" y="6080760"/>
            <a:ext cx="6355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3C3C46"/>
                </a:solidFill>
                <a:latin typeface="Arial"/>
                <a:ea typeface="Arial"/>
                <a:cs typeface="Arial"/>
                <a:sym typeface="Arial"/>
              </a:rPr>
              <a:t>Filtered author comparison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530352" y="6510528"/>
            <a:ext cx="2926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B9C5DA"/>
                </a:solidFill>
                <a:latin typeface="Arial"/>
                <a:ea typeface="Arial"/>
                <a:cs typeface="Arial"/>
                <a:sym typeface="Arial"/>
              </a:rPr>
              <a:t>COSC 445 Mini Project 1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11475720" y="6510528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B9C5DA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329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/>
        </p:nvSpPr>
        <p:spPr>
          <a:xfrm>
            <a:off x="502920" y="256032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6F8FC"/>
                </a:solidFill>
                <a:latin typeface="Play"/>
                <a:ea typeface="Play"/>
                <a:cs typeface="Play"/>
                <a:sym typeface="Play"/>
              </a:rPr>
              <a:t>Doyle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530352" y="713232"/>
            <a:ext cx="795527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B9C5DA"/>
                </a:solidFill>
                <a:latin typeface="Arial"/>
                <a:ea typeface="Arial"/>
                <a:cs typeface="Arial"/>
                <a:sym typeface="Arial"/>
              </a:rPr>
              <a:t>Comparing Doyle’s two books</a:t>
            </a:r>
            <a:endParaRPr/>
          </a:p>
        </p:txBody>
      </p:sp>
      <p:sp>
        <p:nvSpPr>
          <p:cNvPr id="172" name="Google Shape;172;p19"/>
          <p:cNvSpPr/>
          <p:nvPr/>
        </p:nvSpPr>
        <p:spPr>
          <a:xfrm>
            <a:off x="0" y="1024128"/>
            <a:ext cx="12191695" cy="68580"/>
          </a:xfrm>
          <a:prstGeom prst="rect">
            <a:avLst/>
          </a:prstGeom>
          <a:solidFill>
            <a:srgbClr val="FF8200"/>
          </a:solidFill>
          <a:ln cap="flat" cmpd="sng" w="9525">
            <a:solidFill>
              <a:srgbClr val="FF82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548640" y="1325880"/>
            <a:ext cx="3977639" cy="5074920"/>
          </a:xfrm>
          <a:prstGeom prst="roundRect">
            <a:avLst>
              <a:gd fmla="val 16667" name="adj"/>
            </a:avLst>
          </a:prstGeom>
          <a:solidFill>
            <a:srgbClr val="172849"/>
          </a:solidFill>
          <a:ln cap="flat" cmpd="sng" w="12700">
            <a:solidFill>
              <a:srgbClr val="46699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 txBox="1"/>
          <p:nvPr/>
        </p:nvSpPr>
        <p:spPr>
          <a:xfrm>
            <a:off x="777240" y="1554480"/>
            <a:ext cx="3520439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8200"/>
                </a:solidFill>
                <a:latin typeface="Arial"/>
                <a:ea typeface="Arial"/>
                <a:cs typeface="Arial"/>
                <a:sym typeface="Arial"/>
              </a:rPr>
              <a:t>Interpretation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804672" y="1965960"/>
            <a:ext cx="347472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6F8FC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F6F8FC"/>
                </a:solidFill>
                <a:latin typeface="Arial"/>
                <a:ea typeface="Arial"/>
                <a:cs typeface="Arial"/>
                <a:sym typeface="Arial"/>
              </a:rPr>
              <a:t>Some words were fairly consistent across Doyle’s books, such as “some” and “well.”</a:t>
            </a:r>
            <a:endParaRPr sz="1800">
              <a:solidFill>
                <a:srgbClr val="F6F8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6F8FC"/>
              </a:solidFill>
            </a:endParaRPr>
          </a:p>
          <a:p>
            <a: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F6F8FC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F6F8FC"/>
                </a:solidFill>
                <a:latin typeface="Arial"/>
                <a:ea typeface="Arial"/>
                <a:cs typeface="Arial"/>
                <a:sym typeface="Arial"/>
              </a:rPr>
              <a:t>Other words changed sharply, including “our,” “us,” and “mr.”</a:t>
            </a:r>
            <a:endParaRPr sz="1800">
              <a:solidFill>
                <a:srgbClr val="F6F8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6F8FC"/>
              </a:solidFill>
            </a:endParaRPr>
          </a:p>
          <a:p>
            <a: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F6F8FC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F6F8FC"/>
                </a:solidFill>
                <a:latin typeface="Arial"/>
                <a:ea typeface="Arial"/>
                <a:cs typeface="Arial"/>
                <a:sym typeface="Arial"/>
              </a:rPr>
              <a:t>This shows that even one author can have noticeable word-frequency differences across books.</a:t>
            </a:r>
            <a:endParaRPr/>
          </a:p>
        </p:txBody>
      </p:sp>
      <p:sp>
        <p:nvSpPr>
          <p:cNvPr id="176" name="Google Shape;176;p19"/>
          <p:cNvSpPr/>
          <p:nvPr/>
        </p:nvSpPr>
        <p:spPr>
          <a:xfrm>
            <a:off x="4800600" y="1325880"/>
            <a:ext cx="6812280" cy="5074920"/>
          </a:xfrm>
          <a:prstGeom prst="roundRect">
            <a:avLst>
              <a:gd fmla="val 16667" name="adj"/>
            </a:avLst>
          </a:prstGeom>
          <a:solidFill>
            <a:srgbClr val="F4F6FA"/>
          </a:solidFill>
          <a:ln cap="flat" cmpd="sng" w="12700">
            <a:solidFill>
              <a:srgbClr val="46699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art3.png" id="177" name="Google Shape;17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5192" y="2126818"/>
            <a:ext cx="6483096" cy="3217011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5029200" y="6080760"/>
            <a:ext cx="6355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3C3C46"/>
                </a:solidFill>
                <a:latin typeface="Arial"/>
                <a:ea typeface="Arial"/>
                <a:cs typeface="Arial"/>
                <a:sym typeface="Arial"/>
              </a:rPr>
              <a:t>Within-author comparison for Arthur Conan Doyle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530352" y="6510528"/>
            <a:ext cx="2926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B9C5DA"/>
                </a:solidFill>
                <a:latin typeface="Arial"/>
                <a:ea typeface="Arial"/>
                <a:cs typeface="Arial"/>
                <a:sym typeface="Arial"/>
              </a:rPr>
              <a:t>COSC 445 Mini Project 1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11475720" y="6510528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B9C5DA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329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0"/>
          <p:cNvSpPr txBox="1"/>
          <p:nvPr/>
        </p:nvSpPr>
        <p:spPr>
          <a:xfrm>
            <a:off x="502920" y="256032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6F8FC"/>
                </a:solidFill>
                <a:latin typeface="Play"/>
                <a:ea typeface="Play"/>
                <a:cs typeface="Play"/>
                <a:sym typeface="Play"/>
              </a:rPr>
              <a:t>Wells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530352" y="713232"/>
            <a:ext cx="795527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B9C5DA"/>
                </a:solidFill>
                <a:latin typeface="Arial"/>
                <a:ea typeface="Arial"/>
                <a:cs typeface="Arial"/>
                <a:sym typeface="Arial"/>
              </a:rPr>
              <a:t>Comparing Wells’s two books</a:t>
            </a:r>
            <a:endParaRPr/>
          </a:p>
        </p:txBody>
      </p:sp>
      <p:sp>
        <p:nvSpPr>
          <p:cNvPr id="187" name="Google Shape;187;p20"/>
          <p:cNvSpPr/>
          <p:nvPr/>
        </p:nvSpPr>
        <p:spPr>
          <a:xfrm>
            <a:off x="0" y="1024128"/>
            <a:ext cx="12191695" cy="68580"/>
          </a:xfrm>
          <a:prstGeom prst="rect">
            <a:avLst/>
          </a:prstGeom>
          <a:solidFill>
            <a:srgbClr val="FF8200"/>
          </a:solidFill>
          <a:ln cap="flat" cmpd="sng" w="9525">
            <a:solidFill>
              <a:srgbClr val="FF82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548640" y="1325880"/>
            <a:ext cx="3977639" cy="5074920"/>
          </a:xfrm>
          <a:prstGeom prst="roundRect">
            <a:avLst>
              <a:gd fmla="val 16667" name="adj"/>
            </a:avLst>
          </a:prstGeom>
          <a:solidFill>
            <a:srgbClr val="172849"/>
          </a:solidFill>
          <a:ln cap="flat" cmpd="sng" w="12700">
            <a:solidFill>
              <a:srgbClr val="46699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777240" y="1554480"/>
            <a:ext cx="3520439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8200"/>
                </a:solidFill>
                <a:latin typeface="Arial"/>
                <a:ea typeface="Arial"/>
                <a:cs typeface="Arial"/>
                <a:sym typeface="Arial"/>
              </a:rPr>
              <a:t>Interpretation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804672" y="1965960"/>
            <a:ext cx="347472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6F8FC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F6F8FC"/>
                </a:solidFill>
                <a:latin typeface="Arial"/>
                <a:ea typeface="Arial"/>
                <a:cs typeface="Arial"/>
                <a:sym typeface="Arial"/>
              </a:rPr>
              <a:t>The Wells books also differed strongly from each other.</a:t>
            </a:r>
            <a:endParaRPr sz="1800">
              <a:solidFill>
                <a:srgbClr val="F6F8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6F8FC"/>
              </a:solidFill>
            </a:endParaRPr>
          </a:p>
          <a:p>
            <a: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F6F8FC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F6F8FC"/>
                </a:solidFill>
                <a:latin typeface="Arial"/>
                <a:ea typeface="Arial"/>
                <a:cs typeface="Arial"/>
                <a:sym typeface="Arial"/>
              </a:rPr>
              <a:t>The word “time” was far more common in The Time Machine than in The War of the Worlds.</a:t>
            </a:r>
            <a:endParaRPr sz="1800">
              <a:solidFill>
                <a:srgbClr val="F6F8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6F8FC"/>
              </a:solidFill>
            </a:endParaRPr>
          </a:p>
          <a:p>
            <a: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F6F8FC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F6F8FC"/>
                </a:solidFill>
                <a:latin typeface="Arial"/>
                <a:ea typeface="Arial"/>
                <a:cs typeface="Arial"/>
                <a:sym typeface="Arial"/>
              </a:rPr>
              <a:t>Words such as “people” and “its” were more common in The War of the Worlds.</a:t>
            </a:r>
            <a:endParaRPr sz="1800">
              <a:solidFill>
                <a:srgbClr val="F6F8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6F8FC"/>
              </a:solidFill>
            </a:endParaRPr>
          </a:p>
          <a:p>
            <a: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F6F8FC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F6F8FC"/>
                </a:solidFill>
                <a:latin typeface="Arial"/>
                <a:ea typeface="Arial"/>
                <a:cs typeface="Arial"/>
                <a:sym typeface="Arial"/>
              </a:rPr>
              <a:t>This supports the same limitation: topic affects word frequency.</a:t>
            </a:r>
            <a:endParaRPr/>
          </a:p>
        </p:txBody>
      </p:sp>
      <p:sp>
        <p:nvSpPr>
          <p:cNvPr id="191" name="Google Shape;191;p20"/>
          <p:cNvSpPr/>
          <p:nvPr/>
        </p:nvSpPr>
        <p:spPr>
          <a:xfrm>
            <a:off x="4800600" y="1325880"/>
            <a:ext cx="6812280" cy="5074920"/>
          </a:xfrm>
          <a:prstGeom prst="roundRect">
            <a:avLst>
              <a:gd fmla="val 16667" name="adj"/>
            </a:avLst>
          </a:prstGeom>
          <a:solidFill>
            <a:srgbClr val="F4F6FA"/>
          </a:solidFill>
          <a:ln cap="flat" cmpd="sng" w="12700">
            <a:solidFill>
              <a:srgbClr val="46699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art4.png" id="192" name="Google Shape;19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5192" y="2126818"/>
            <a:ext cx="6483096" cy="321701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 txBox="1"/>
          <p:nvPr/>
        </p:nvSpPr>
        <p:spPr>
          <a:xfrm>
            <a:off x="5029200" y="6080760"/>
            <a:ext cx="6355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3C3C46"/>
                </a:solidFill>
                <a:latin typeface="Arial"/>
                <a:ea typeface="Arial"/>
                <a:cs typeface="Arial"/>
                <a:sym typeface="Arial"/>
              </a:rPr>
              <a:t>Within-author comparison for H. G. Wells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530352" y="6510528"/>
            <a:ext cx="2926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B9C5DA"/>
                </a:solidFill>
                <a:latin typeface="Arial"/>
                <a:ea typeface="Arial"/>
                <a:cs typeface="Arial"/>
                <a:sym typeface="Arial"/>
              </a:rPr>
              <a:t>COSC 445 Mini Project 1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11475720" y="6510528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B9C5DA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329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1"/>
          <p:cNvSpPr txBox="1"/>
          <p:nvPr/>
        </p:nvSpPr>
        <p:spPr>
          <a:xfrm>
            <a:off x="502920" y="256032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6F8FC"/>
                </a:solidFill>
                <a:latin typeface="Play"/>
                <a:ea typeface="Play"/>
                <a:cs typeface="Play"/>
                <a:sym typeface="Play"/>
              </a:rPr>
              <a:t>Limits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530352" y="713232"/>
            <a:ext cx="795527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B9C5DA"/>
                </a:solidFill>
                <a:latin typeface="Arial"/>
                <a:ea typeface="Arial"/>
                <a:cs typeface="Arial"/>
                <a:sym typeface="Arial"/>
              </a:rPr>
              <a:t>What this analysis cannot fully prove</a:t>
            </a:r>
            <a:endParaRPr/>
          </a:p>
        </p:txBody>
      </p:sp>
      <p:sp>
        <p:nvSpPr>
          <p:cNvPr id="202" name="Google Shape;202;p21"/>
          <p:cNvSpPr/>
          <p:nvPr/>
        </p:nvSpPr>
        <p:spPr>
          <a:xfrm>
            <a:off x="0" y="1024128"/>
            <a:ext cx="12191695" cy="68580"/>
          </a:xfrm>
          <a:prstGeom prst="rect">
            <a:avLst/>
          </a:prstGeom>
          <a:solidFill>
            <a:srgbClr val="FF8200"/>
          </a:solidFill>
          <a:ln cap="flat" cmpd="sng" w="9525">
            <a:solidFill>
              <a:srgbClr val="FF82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548640" y="1325880"/>
            <a:ext cx="3977639" cy="5074920"/>
          </a:xfrm>
          <a:prstGeom prst="roundRect">
            <a:avLst>
              <a:gd fmla="val 16667" name="adj"/>
            </a:avLst>
          </a:prstGeom>
          <a:solidFill>
            <a:srgbClr val="172849"/>
          </a:solidFill>
          <a:ln cap="flat" cmpd="sng" w="12700">
            <a:solidFill>
              <a:srgbClr val="46699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777240" y="1554480"/>
            <a:ext cx="3520439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8200"/>
                </a:solidFill>
                <a:latin typeface="Arial"/>
                <a:ea typeface="Arial"/>
                <a:cs typeface="Arial"/>
                <a:sym typeface="Arial"/>
              </a:rPr>
              <a:t>Limitations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804672" y="1965960"/>
            <a:ext cx="347472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6F8FC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F6F8FC"/>
                </a:solidFill>
                <a:latin typeface="Arial"/>
                <a:ea typeface="Arial"/>
                <a:cs typeface="Arial"/>
                <a:sym typeface="Arial"/>
              </a:rPr>
              <a:t>Word frequency does not automatically equal author style.</a:t>
            </a:r>
            <a:endParaRPr sz="1800">
              <a:solidFill>
                <a:srgbClr val="F6F8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6F8FC"/>
              </a:solidFill>
            </a:endParaRPr>
          </a:p>
          <a:p>
            <a: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F6F8FC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F6F8FC"/>
                </a:solidFill>
                <a:latin typeface="Arial"/>
                <a:ea typeface="Arial"/>
                <a:cs typeface="Arial"/>
                <a:sym typeface="Arial"/>
              </a:rPr>
              <a:t>Stop-word selection affects the final rankings.</a:t>
            </a:r>
            <a:endParaRPr sz="1800">
              <a:solidFill>
                <a:srgbClr val="F6F8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6F8FC"/>
              </a:solidFill>
            </a:endParaRPr>
          </a:p>
          <a:p>
            <a: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F6F8FC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F6F8FC"/>
                </a:solidFill>
                <a:latin typeface="Arial"/>
                <a:ea typeface="Arial"/>
                <a:cs typeface="Arial"/>
                <a:sym typeface="Arial"/>
              </a:rPr>
              <a:t>Choosing which terms are story-specific is somewhat subjective.</a:t>
            </a:r>
            <a:endParaRPr sz="1800">
              <a:solidFill>
                <a:srgbClr val="F6F8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6F8FC"/>
              </a:solidFill>
            </a:endParaRPr>
          </a:p>
          <a:p>
            <a: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F6F8FC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F6F8FC"/>
                </a:solidFill>
                <a:latin typeface="Arial"/>
                <a:ea typeface="Arial"/>
                <a:cs typeface="Arial"/>
                <a:sym typeface="Arial"/>
              </a:rPr>
              <a:t>Using only two books per author limits how general the conclusions can be.</a:t>
            </a:r>
            <a:endParaRPr/>
          </a:p>
        </p:txBody>
      </p:sp>
      <p:sp>
        <p:nvSpPr>
          <p:cNvPr id="206" name="Google Shape;206;p21"/>
          <p:cNvSpPr/>
          <p:nvPr/>
        </p:nvSpPr>
        <p:spPr>
          <a:xfrm>
            <a:off x="4800600" y="1325880"/>
            <a:ext cx="6812280" cy="5074920"/>
          </a:xfrm>
          <a:prstGeom prst="roundRect">
            <a:avLst>
              <a:gd fmla="val 16667" name="adj"/>
            </a:avLst>
          </a:prstGeom>
          <a:solidFill>
            <a:srgbClr val="0F1D3A"/>
          </a:solidFill>
          <a:ln cap="flat" cmpd="sng" w="12700">
            <a:solidFill>
              <a:srgbClr val="46699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5056632" y="1527048"/>
            <a:ext cx="6309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4CBEF0"/>
                </a:solidFill>
                <a:latin typeface="Arial"/>
                <a:ea typeface="Arial"/>
                <a:cs typeface="Arial"/>
                <a:sym typeface="Arial"/>
              </a:rPr>
              <a:t>Examples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5125175" y="2623590"/>
            <a:ext cx="6172200" cy="24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6F8FC"/>
                </a:solidFill>
                <a:latin typeface="Courier New"/>
                <a:ea typeface="Courier New"/>
                <a:cs typeface="Courier New"/>
                <a:sym typeface="Courier New"/>
              </a:rPr>
              <a:t>holmes   -&gt; character/topic term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6F8FC"/>
                </a:solidFill>
                <a:latin typeface="Courier New"/>
                <a:ea typeface="Courier New"/>
                <a:cs typeface="Courier New"/>
                <a:sym typeface="Courier New"/>
              </a:rPr>
              <a:t>time     -&gt; title and subject term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6F8FC"/>
                </a:solidFill>
                <a:latin typeface="Courier New"/>
                <a:ea typeface="Courier New"/>
                <a:cs typeface="Courier New"/>
                <a:sym typeface="Courier New"/>
              </a:rPr>
              <a:t>martians -&gt; story-world term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6F8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6F8FC"/>
                </a:solidFill>
                <a:latin typeface="Courier New"/>
                <a:ea typeface="Courier New"/>
                <a:cs typeface="Courier New"/>
                <a:sym typeface="Courier New"/>
              </a:rPr>
              <a:t>The second pass improved the comparison,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6F8FC"/>
                </a:solidFill>
                <a:latin typeface="Courier New"/>
                <a:ea typeface="Courier New"/>
                <a:cs typeface="Courier New"/>
                <a:sym typeface="Courier New"/>
              </a:rPr>
              <a:t>but it could not remove every source of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6F8FC"/>
                </a:solidFill>
                <a:latin typeface="Courier New"/>
                <a:ea typeface="Courier New"/>
                <a:cs typeface="Courier New"/>
                <a:sym typeface="Courier New"/>
              </a:rPr>
              <a:t>context or subject-matter bias.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530352" y="6510528"/>
            <a:ext cx="2926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B9C5DA"/>
                </a:solidFill>
                <a:latin typeface="Arial"/>
                <a:ea typeface="Arial"/>
                <a:cs typeface="Arial"/>
                <a:sym typeface="Arial"/>
              </a:rPr>
              <a:t>COSC 445 Mini Project 1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11475720" y="6510528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B9C5DA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329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2"/>
          <p:cNvSpPr txBox="1"/>
          <p:nvPr/>
        </p:nvSpPr>
        <p:spPr>
          <a:xfrm>
            <a:off x="502920" y="256032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6F8FC"/>
                </a:solidFill>
                <a:latin typeface="Play"/>
                <a:ea typeface="Play"/>
                <a:cs typeface="Play"/>
                <a:sym typeface="Play"/>
              </a:rPr>
              <a:t>Takeaways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530352" y="713232"/>
            <a:ext cx="795527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B9C5DA"/>
                </a:solidFill>
                <a:latin typeface="Arial"/>
                <a:ea typeface="Arial"/>
                <a:cs typeface="Arial"/>
                <a:sym typeface="Arial"/>
              </a:rPr>
              <a:t>What </a:t>
            </a:r>
            <a:r>
              <a:rPr lang="en-US" sz="1100">
                <a:solidFill>
                  <a:srgbClr val="B9C5DA"/>
                </a:solidFill>
              </a:rPr>
              <a:t>was</a:t>
            </a:r>
            <a:r>
              <a:rPr b="0" lang="en-US" sz="1100">
                <a:solidFill>
                  <a:srgbClr val="B9C5DA"/>
                </a:solidFill>
                <a:latin typeface="Arial"/>
                <a:ea typeface="Arial"/>
                <a:cs typeface="Arial"/>
                <a:sym typeface="Arial"/>
              </a:rPr>
              <a:t> learned from the project</a:t>
            </a:r>
            <a:endParaRPr/>
          </a:p>
        </p:txBody>
      </p:sp>
      <p:sp>
        <p:nvSpPr>
          <p:cNvPr id="217" name="Google Shape;217;p22"/>
          <p:cNvSpPr/>
          <p:nvPr/>
        </p:nvSpPr>
        <p:spPr>
          <a:xfrm>
            <a:off x="0" y="1024128"/>
            <a:ext cx="12191695" cy="68580"/>
          </a:xfrm>
          <a:prstGeom prst="rect">
            <a:avLst/>
          </a:prstGeom>
          <a:solidFill>
            <a:srgbClr val="FF8200"/>
          </a:solidFill>
          <a:ln cap="flat" cmpd="sng" w="9525">
            <a:solidFill>
              <a:srgbClr val="FF82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548667" y="1325875"/>
            <a:ext cx="10927200" cy="5074800"/>
          </a:xfrm>
          <a:prstGeom prst="roundRect">
            <a:avLst>
              <a:gd fmla="val 16667" name="adj"/>
            </a:avLst>
          </a:prstGeom>
          <a:solidFill>
            <a:srgbClr val="172849"/>
          </a:solidFill>
          <a:ln cap="flat" cmpd="sng" w="12700">
            <a:solidFill>
              <a:srgbClr val="46699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 txBox="1"/>
          <p:nvPr/>
        </p:nvSpPr>
        <p:spPr>
          <a:xfrm>
            <a:off x="777240" y="1554480"/>
            <a:ext cx="3520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8200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sz="2100"/>
          </a:p>
        </p:txBody>
      </p:sp>
      <p:sp>
        <p:nvSpPr>
          <p:cNvPr id="220" name="Google Shape;220;p22"/>
          <p:cNvSpPr txBox="1"/>
          <p:nvPr/>
        </p:nvSpPr>
        <p:spPr>
          <a:xfrm>
            <a:off x="777256" y="2194375"/>
            <a:ext cx="10301700" cy="42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6F8FC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F6F8FC"/>
                </a:solidFill>
                <a:latin typeface="Arial"/>
                <a:ea typeface="Arial"/>
                <a:cs typeface="Arial"/>
                <a:sym typeface="Arial"/>
              </a:rPr>
              <a:t>Normalized word frequency can reveal meaningful differences between books and authors.</a:t>
            </a:r>
            <a:endParaRPr sz="1800">
              <a:solidFill>
                <a:srgbClr val="F6F8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6F8FC"/>
              </a:solidFill>
            </a:endParaRPr>
          </a:p>
          <a:p>
            <a: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F6F8FC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F6F8FC"/>
                </a:solidFill>
                <a:latin typeface="Arial"/>
                <a:ea typeface="Arial"/>
                <a:cs typeface="Arial"/>
                <a:sym typeface="Arial"/>
              </a:rPr>
              <a:t>The strongest raw differences were often caused by topic and character names.</a:t>
            </a:r>
            <a:endParaRPr sz="1800">
              <a:solidFill>
                <a:srgbClr val="F6F8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6F8FC"/>
              </a:solidFill>
            </a:endParaRPr>
          </a:p>
          <a:p>
            <a: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F6F8FC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F6F8FC"/>
                </a:solidFill>
                <a:latin typeface="Arial"/>
                <a:ea typeface="Arial"/>
                <a:cs typeface="Arial"/>
                <a:sym typeface="Arial"/>
              </a:rPr>
              <a:t>The second pass made the author comparison more defensible by directly addressing that limitation.</a:t>
            </a:r>
            <a:endParaRPr sz="1800">
              <a:solidFill>
                <a:srgbClr val="F6F8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6F8FC"/>
              </a:solidFill>
            </a:endParaRPr>
          </a:p>
          <a:p>
            <a: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F6F8FC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F6F8FC"/>
                </a:solidFill>
                <a:latin typeface="Arial"/>
                <a:ea typeface="Arial"/>
                <a:cs typeface="Arial"/>
                <a:sym typeface="Arial"/>
              </a:rPr>
              <a:t>A larger future study could use more books or a systematic method for identifying story-specific terms.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530352" y="6510528"/>
            <a:ext cx="2926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B9C5DA"/>
                </a:solidFill>
                <a:latin typeface="Arial"/>
                <a:ea typeface="Arial"/>
                <a:cs typeface="Arial"/>
                <a:sym typeface="Arial"/>
              </a:rPr>
              <a:t>COSC 445 Mini Project 1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11475726" y="6510525"/>
            <a:ext cx="278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B9C5DA"/>
                </a:solidFill>
              </a:rPr>
              <a:t>10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